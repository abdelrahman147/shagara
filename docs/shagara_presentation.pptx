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4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0D432F"/>
                </a:solidFill>
                <a:latin typeface="Georgia"/>
              </a:defRPr>
            </a:pPr>
            <a:r>
              <a:t>shagara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3694D"/>
                </a:solidFill>
                <a:latin typeface="Georgia"/>
              </a:defRPr>
            </a:pPr>
            <a:r>
              <a:t>Grounded Botanical Intelligence &amp; RAG Assistant for Cairo Rooftops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32D24"/>
                </a:solidFill>
              </a:defRPr>
            </a:pPr>
            <a:r>
              <a:t>An end-to-end production RAG system combining section-aware document retrieval, strict citation attribution, and Gemini 2.5 generative reasoning to deliver localized urban farming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029200"/>
            <a:ext cx="9966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432F"/>
                </a:solidFill>
              </a:defRPr>
            </a:pPr>
            <a:r>
              <a:t>ITI Level 2 Summer Training Graduation Project  |  Engineer: Abdelrahman Mohsen</a:t>
            </a:r>
          </a:p>
          <a:p>
            <a:pPr>
              <a:defRPr sz="1100">
                <a:solidFill>
                  <a:srgbClr val="676D69"/>
                </a:solidFill>
              </a:defRPr>
            </a:pPr>
            <a:r>
              <a:t>Live Deployment: https://shagara.shop   •   FastAPI Backend: https://shagara.shop/docs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F8A2D"/>
                </a:solidFill>
              </a:defRPr>
            </a:pPr>
            <a:r>
              <a:t>SHAGARA · CAIRO ROOFTOP BOTANICAL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432F"/>
                </a:solidFill>
                <a:latin typeface="Georgia"/>
              </a:defRPr>
            </a:pPr>
            <a:r>
              <a:t>The Urban Agriculture Challenge in Cairo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000" b="1">
                <a:solidFill>
                  <a:srgbClr val="BF8A2D"/>
                </a:solidFill>
              </a:defRPr>
            </a:pPr>
            <a:r>
              <a:t>CLIMATE CHALLENGE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800" b="1">
                <a:solidFill>
                  <a:srgbClr val="0D432F"/>
                </a:solidFill>
                <a:latin typeface="Georgia"/>
              </a:defRPr>
            </a:pPr>
            <a:r>
              <a:t>Extreme Desert Climate</a:t>
            </a:r>
          </a:p>
          <a:p>
            <a:pPr>
              <a:lnSpc>
                <a:spcPct val="135000"/>
              </a:lnSpc>
              <a:defRPr sz="1300">
                <a:solidFill>
                  <a:srgbClr val="132D24"/>
                </a:solidFill>
              </a:defRPr>
            </a:pPr>
            <a:r>
              <a:t>40°C+ summer peaks, high UV radiation, dry desert winds, and severe evaporation require specialized irrigation timing and shade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000" b="1">
                <a:solidFill>
                  <a:srgbClr val="BF8A2D"/>
                </a:solidFill>
              </a:defRPr>
            </a:pPr>
            <a:r>
              <a:t>AGRONOMIC COMPLEXITY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800" b="1">
                <a:solidFill>
                  <a:srgbClr val="0D432F"/>
                </a:solidFill>
                <a:latin typeface="Georgia"/>
              </a:defRPr>
            </a:pPr>
            <a:r>
              <a:t>Rooftop Constraints</a:t>
            </a:r>
          </a:p>
          <a:p>
            <a:pPr>
              <a:lnSpc>
                <a:spcPct val="135000"/>
              </a:lnSpc>
              <a:defRPr sz="1300">
                <a:solidFill>
                  <a:srgbClr val="132D24"/>
                </a:solidFill>
              </a:defRPr>
            </a:pPr>
            <a:r>
              <a:t>Container gardening in 20L pots faces root suffocation, white crust tap water salinity, and rapid soil dehydration unlike open field farming.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000" b="1">
                <a:solidFill>
                  <a:srgbClr val="BF8A2D"/>
                </a:solidFill>
              </a:defRPr>
            </a:pPr>
            <a:r>
              <a:t>ACCURACY REQUIREMENT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800" b="1">
                <a:solidFill>
                  <a:srgbClr val="0D432F"/>
                </a:solidFill>
                <a:latin typeface="Georgia"/>
              </a:defRPr>
            </a:pPr>
            <a:r>
              <a:t>The Grounding Imperative</a:t>
            </a:r>
          </a:p>
          <a:p>
            <a:pPr>
              <a:lnSpc>
                <a:spcPct val="135000"/>
              </a:lnSpc>
              <a:defRPr sz="1300">
                <a:solidFill>
                  <a:srgbClr val="132D24"/>
                </a:solidFill>
              </a:defRPr>
            </a:pPr>
            <a:r>
              <a:t>Generic public LLMs hallucinate unsafe pesticide dosages or generic schedules. Cairo growers require verified, cited field protocols.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F8A2D"/>
                </a:solidFill>
              </a:defRPr>
            </a:pPr>
            <a:r>
              <a:t>SHAGARA · CAIRO ROOFTOP BOTANICAL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432F"/>
                </a:solidFill>
                <a:latin typeface="Georgia"/>
              </a:defRPr>
            </a:pPr>
            <a:r>
              <a:t>High-Performance End-to-End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74320" rIns="274320"/>
          <a:lstStyle/>
          <a:p>
            <a:pPr algn="ctr">
              <a:defRPr sz="1300" b="1">
                <a:solidFill>
                  <a:srgbClr val="0D432F"/>
                </a:solidFill>
              </a:defRPr>
            </a:pPr>
            <a:r>
              <a:t>01. INGESTION &amp; CHUNKING  —  Multi-Format Parsers</a:t>
            </a:r>
          </a:p>
          <a:p>
            <a:pPr>
              <a:spcBef>
                <a:spcPts val="400"/>
              </a:spcBef>
              <a:defRPr sz="1100">
                <a:solidFill>
                  <a:srgbClr val="132D24"/>
                </a:solidFill>
              </a:defRPr>
            </a:pPr>
            <a:r>
              <a:t>Ingests Markdown, TXT, and PDF documents. Executes section-aware boundary chunking (480-character chunks, 60-character overlap) preserving page, header, and tenant metadata.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74320" rIns="274320"/>
          <a:lstStyle/>
          <a:p>
            <a:pPr algn="ctr">
              <a:defRPr sz="1300" b="1">
                <a:solidFill>
                  <a:srgbClr val="0D432F"/>
                </a:solidFill>
              </a:defRPr>
            </a:pPr>
            <a:r>
              <a:t>02. INDEXING &amp; RETRIEVAL  —  Persisted Vector Store</a:t>
            </a:r>
          </a:p>
          <a:p>
            <a:pPr>
              <a:spcBef>
                <a:spcPts val="400"/>
              </a:spcBef>
              <a:defRPr sz="1100">
                <a:solidFill>
                  <a:srgbClr val="132D24"/>
                </a:solidFill>
              </a:defRPr>
            </a:pPr>
            <a:r>
              <a:t>Lexical and semantic vector index persisted to disk. Loads once at FastAPI lifespan startup. Multi-tenant partitioning ensures private garden access isolation.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74320" rIns="274320"/>
          <a:lstStyle/>
          <a:p>
            <a:pPr algn="ctr">
              <a:defRPr sz="1300" b="1">
                <a:solidFill>
                  <a:srgbClr val="0D432F"/>
                </a:solidFill>
              </a:defRPr>
            </a:pPr>
            <a:r>
              <a:t>03. GUARDRAILS &amp; ROUTING  —  Query Classification</a:t>
            </a:r>
          </a:p>
          <a:p>
            <a:pPr>
              <a:spcBef>
                <a:spcPts val="400"/>
              </a:spcBef>
              <a:defRPr sz="1100">
                <a:solidFill>
                  <a:srgbClr val="132D24"/>
                </a:solidFill>
              </a:defRPr>
            </a:pPr>
            <a:r>
              <a:t>Routes analytical, document, or chit-chat queries. Scans for prompt injection attacks and evaluates semantic similarity threshold before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74320" rIns="274320"/>
          <a:lstStyle/>
          <a:p>
            <a:pPr algn="ctr">
              <a:defRPr sz="1300" b="1">
                <a:solidFill>
                  <a:srgbClr val="0D432F"/>
                </a:solidFill>
              </a:defRPr>
            </a:pPr>
            <a:r>
              <a:t>04. GROUNDED GENERATION  —  Gemini 2.5 Flash Engine</a:t>
            </a:r>
          </a:p>
          <a:p>
            <a:pPr>
              <a:spcBef>
                <a:spcPts val="400"/>
              </a:spcBef>
              <a:defRPr sz="1100">
                <a:solidFill>
                  <a:srgbClr val="132D24"/>
                </a:solidFill>
              </a:defRPr>
            </a:pPr>
            <a:r>
              <a:t>Combines retrieved passages with custom Cairo botanical persona. Enforces explicit citation tokens ([S1], [S2]) with automatic local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F8A2D"/>
                </a:solidFill>
              </a:defRPr>
            </a:pPr>
            <a:r>
              <a:t>SHAGARA · CAIRO ROOFTOP BOTANICAL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432F"/>
                </a:solidFill>
                <a:latin typeface="Georgia"/>
              </a:defRPr>
            </a:pPr>
            <a:r>
              <a:t>Verified RAG Benchmarks &amp;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/>
          <a:lstStyle/>
          <a:p>
            <a:pPr algn="ctr">
              <a:defRPr sz="3600" b="1">
                <a:solidFill>
                  <a:srgbClr val="0D432F"/>
                </a:solidFill>
                <a:latin typeface="Georgia"/>
              </a:defRPr>
            </a:pPr>
            <a:r>
              <a:t>1.00</a:t>
            </a:r>
          </a:p>
          <a:p>
            <a:pPr>
              <a:spcBef>
                <a:spcPts val="600"/>
              </a:spcBef>
              <a:defRPr sz="1300" b="1">
                <a:solidFill>
                  <a:srgbClr val="132D24"/>
                </a:solidFill>
              </a:defRPr>
            </a:pPr>
            <a:r>
              <a:t>Recall @ 5</a:t>
            </a:r>
          </a:p>
          <a:p>
            <a:pPr>
              <a:spcBef>
                <a:spcPts val="400"/>
              </a:spcBef>
              <a:defRPr sz="1000">
                <a:solidFill>
                  <a:srgbClr val="676D69"/>
                </a:solidFill>
              </a:defRPr>
            </a:pPr>
            <a:r>
              <a:t>All expected golden passages successfully located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/>
          <a:lstStyle/>
          <a:p>
            <a:pPr algn="ctr">
              <a:defRPr sz="3600" b="1">
                <a:solidFill>
                  <a:srgbClr val="0D432F"/>
                </a:solidFill>
                <a:latin typeface="Georgia"/>
              </a:defRPr>
            </a:pPr>
            <a:r>
              <a:t>0.86</a:t>
            </a:r>
          </a:p>
          <a:p>
            <a:pPr>
              <a:spcBef>
                <a:spcPts val="600"/>
              </a:spcBef>
              <a:defRPr sz="1300" b="1">
                <a:solidFill>
                  <a:srgbClr val="132D24"/>
                </a:solidFill>
              </a:defRPr>
            </a:pPr>
            <a:r>
              <a:t>Answer Correctness</a:t>
            </a:r>
          </a:p>
          <a:p>
            <a:pPr>
              <a:spcBef>
                <a:spcPts val="400"/>
              </a:spcBef>
              <a:defRPr sz="1000">
                <a:solidFill>
                  <a:srgbClr val="676D69"/>
                </a:solidFill>
              </a:defRPr>
            </a:pPr>
            <a:r>
              <a:t>Benchmarked against expert rooftop grower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/>
          <a:lstStyle/>
          <a:p>
            <a:pPr algn="ctr">
              <a:defRPr sz="3600" b="1">
                <a:solidFill>
                  <a:srgbClr val="0D432F"/>
                </a:solidFill>
                <a:latin typeface="Georgia"/>
              </a:defRPr>
            </a:pPr>
            <a:r>
              <a:t>1.00</a:t>
            </a:r>
          </a:p>
          <a:p>
            <a:pPr>
              <a:spcBef>
                <a:spcPts val="600"/>
              </a:spcBef>
              <a:defRPr sz="1300" b="1">
                <a:solidFill>
                  <a:srgbClr val="132D24"/>
                </a:solidFill>
              </a:defRPr>
            </a:pPr>
            <a:r>
              <a:t>Abstention Accuracy</a:t>
            </a:r>
          </a:p>
          <a:p>
            <a:pPr>
              <a:spcBef>
                <a:spcPts val="400"/>
              </a:spcBef>
              <a:defRPr sz="1000">
                <a:solidFill>
                  <a:srgbClr val="676D69"/>
                </a:solidFill>
              </a:defRPr>
            </a:pPr>
            <a:r>
              <a:t>Zero hallucinations on out-of-domain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/>
          <a:lstStyle/>
          <a:p>
            <a:pPr algn="ctr">
              <a:defRPr sz="3600" b="1">
                <a:solidFill>
                  <a:srgbClr val="0D432F"/>
                </a:solidFill>
                <a:latin typeface="Georgia"/>
              </a:defRPr>
            </a:pPr>
            <a:r>
              <a:t>48 ms</a:t>
            </a:r>
          </a:p>
          <a:p>
            <a:pPr>
              <a:spcBef>
                <a:spcPts val="600"/>
              </a:spcBef>
              <a:defRPr sz="1300" b="1">
                <a:solidFill>
                  <a:srgbClr val="132D24"/>
                </a:solidFill>
              </a:defRPr>
            </a:pPr>
            <a:r>
              <a:t>Median Retrieval Latency</a:t>
            </a:r>
          </a:p>
          <a:p>
            <a:pPr>
              <a:spcBef>
                <a:spcPts val="400"/>
              </a:spcBef>
              <a:defRPr sz="1000">
                <a:solidFill>
                  <a:srgbClr val="676D69"/>
                </a:solidFill>
              </a:defRPr>
            </a:pPr>
            <a:r>
              <a:t>Sub-50ms local vector index response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200" b="1">
                <a:solidFill>
                  <a:srgbClr val="BF8A2D"/>
                </a:solidFill>
              </a:defRPr>
            </a:pPr>
            <a:r>
              <a:t>PIPELINE RELIABILITY &amp; FAIL-SAFE DESIGN</a:t>
            </a:r>
          </a:p>
          <a:p>
            <a:pPr>
              <a:spcBef>
                <a:spcPts val="600"/>
              </a:spcBef>
              <a:defRPr sz="1150">
                <a:solidFill>
                  <a:srgbClr val="132D24"/>
                </a:solidFill>
              </a:defRPr>
            </a:pPr>
            <a:r>
              <a:t>• Strict Confidence Thresholding: Queries with relevance score &lt; 0.12 immediately trigger deterministic abstention rather than hallucinating.</a:t>
            </a:r>
          </a:p>
          <a:p>
            <a:pPr>
              <a:spcBef>
                <a:spcPts val="600"/>
              </a:spcBef>
              <a:defRPr sz="1150">
                <a:solidFill>
                  <a:srgbClr val="132D24"/>
                </a:solidFill>
              </a:defRPr>
            </a:pPr>
            <a:r>
              <a:t>• Citation Grounding Verification: Gemini response is forced to cite source markers ([S1], [S2]) mapped directly to verified document excerpts.</a:t>
            </a:r>
          </a:p>
          <a:p>
            <a:pPr>
              <a:spcBef>
                <a:spcPts val="600"/>
              </a:spcBef>
              <a:defRPr sz="1150">
                <a:solidFill>
                  <a:srgbClr val="132D24"/>
                </a:solidFill>
              </a:defRPr>
            </a:pPr>
            <a:r>
              <a:t>• Prompt Injection Sanitization: Automatically identifies and flags malicious override tokens inside ingested user documents.</a:t>
            </a:r>
          </a:p>
          <a:p>
            <a:pPr>
              <a:spcBef>
                <a:spcPts val="600"/>
              </a:spcBef>
              <a:defRPr sz="1150">
                <a:solidFill>
                  <a:srgbClr val="132D24"/>
                </a:solidFill>
              </a:defRPr>
            </a:pPr>
            <a:r>
              <a:t>• Dual Generation Architecture: Native cloud integration via Google Gemini 2.5 Flash with automatic offline fallback to local Ollama Llama 3.2.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F8A2D"/>
                </a:solidFill>
              </a:defRPr>
            </a:pPr>
            <a:r>
              <a:t>SHAGARA · CAIRO ROOFTOP BOTANICAL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432F"/>
                </a:solidFill>
                <a:latin typeface="Georgia"/>
              </a:defRPr>
            </a:pPr>
            <a:r>
              <a:t>Editorial Product Experience &amp; User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700" b="1">
                <a:solidFill>
                  <a:srgbClr val="0D432F"/>
                </a:solidFill>
                <a:latin typeface="Georgia"/>
              </a:defRPr>
            </a:pPr>
            <a:r>
              <a:t>Dual-Panel Workspace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50">
                <a:solidFill>
                  <a:srgbClr val="132D24"/>
                </a:solidFill>
              </a:defRPr>
            </a:pPr>
            <a:r>
              <a:t>Left column provides interactive conversational querying with sample quick-chips. Right column hosts the live Evidence Inspector.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700" b="1">
                <a:solidFill>
                  <a:srgbClr val="0D432F"/>
                </a:solidFill>
                <a:latin typeface="Georgia"/>
              </a:defRPr>
            </a:pPr>
            <a:r>
              <a:t>Clickable Source Inspector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50">
                <a:solidFill>
                  <a:srgbClr val="132D24"/>
                </a:solidFill>
              </a:defRPr>
            </a:pPr>
            <a:r>
              <a:t>Users click citation chips ([S1], [S2]) to view exact passage text, page numbers, section headers, and semantic match meter.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700" b="1">
                <a:solidFill>
                  <a:srgbClr val="0D432F"/>
                </a:solidFill>
                <a:latin typeface="Georgia"/>
              </a:defRPr>
            </a:pPr>
            <a:r>
              <a:t>Live Document Ingestion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50">
                <a:solidFill>
                  <a:srgbClr val="132D24"/>
                </a:solidFill>
              </a:defRPr>
            </a:pPr>
            <a:r>
              <a:t>Built-in drag-and-drop uploader supporting PDF, Markdown, and TXT files with instant vector indexing.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700" b="1">
                <a:solidFill>
                  <a:srgbClr val="0D432F"/>
                </a:solidFill>
                <a:latin typeface="Georgia"/>
              </a:defRPr>
            </a:pPr>
            <a:r>
              <a:t>FairKey Editorial Style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250">
                <a:solidFill>
                  <a:srgbClr val="132D24"/>
                </a:solidFill>
              </a:defRPr>
            </a:pPr>
            <a:r>
              <a:t>Clean botanical cream &amp; forest green typography (Libre Baskerville + DM Sans) with 100% 2D responsive performance (242 kB bundle).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F8A2D"/>
                </a:solidFill>
              </a:defRPr>
            </a:pPr>
            <a:r>
              <a:t>SHAGARA · CAIRO ROOFTOP BOTANICAL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432F"/>
                </a:solidFill>
                <a:latin typeface="Georgia"/>
              </a:defRPr>
            </a:pPr>
            <a:r>
              <a:t>Technology Stack &amp; Production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74320"/>
          <a:lstStyle/>
          <a:p>
            <a:pPr algn="ctr">
              <a:defRPr sz="1000" b="1">
                <a:solidFill>
                  <a:srgbClr val="BF8A2D"/>
                </a:solidFill>
              </a:defRPr>
            </a:pPr>
            <a:r>
              <a:t>GENERATIVE AI &amp; LLM</a:t>
            </a:r>
          </a:p>
          <a:p>
            <a:pPr>
              <a:spcBef>
                <a:spcPts val="200"/>
              </a:spcBef>
              <a:defRPr sz="1200" b="1">
                <a:solidFill>
                  <a:srgbClr val="0D432F"/>
                </a:solidFill>
              </a:defRPr>
            </a:pPr>
            <a:r>
              <a:t>Google Gemini 2.5 Flash API (Cloud)  +  Ollama Llama 3.2 3B (Local Offline)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698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74320"/>
          <a:lstStyle/>
          <a:p>
            <a:pPr algn="ctr">
              <a:defRPr sz="1000" b="1">
                <a:solidFill>
                  <a:srgbClr val="BF8A2D"/>
                </a:solidFill>
              </a:defRPr>
            </a:pPr>
            <a:r>
              <a:t>BACKEND FRAMEWORK</a:t>
            </a:r>
          </a:p>
          <a:p>
            <a:pPr>
              <a:spcBef>
                <a:spcPts val="200"/>
              </a:spcBef>
              <a:defRPr sz="1200" b="1">
                <a:solidFill>
                  <a:srgbClr val="0D432F"/>
                </a:solidFill>
              </a:defRPr>
            </a:pPr>
            <a:r>
              <a:t>FastAPI (Async Lifespan, CORS, OpenAPI Swagger Docs, Pydantic V2)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698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74320"/>
          <a:lstStyle/>
          <a:p>
            <a:pPr algn="ctr">
              <a:defRPr sz="1000" b="1">
                <a:solidFill>
                  <a:srgbClr val="BF8A2D"/>
                </a:solidFill>
              </a:defRPr>
            </a:pPr>
            <a:r>
              <a:t>RETRIEVAL &amp; VECTORS</a:t>
            </a:r>
          </a:p>
          <a:p>
            <a:pPr>
              <a:spcBef>
                <a:spcPts val="200"/>
              </a:spcBef>
              <a:defRPr sz="1200" b="1">
                <a:solidFill>
                  <a:srgbClr val="0D432F"/>
                </a:solidFill>
              </a:defRPr>
            </a:pPr>
            <a:r>
              <a:t>Persisted Vector Store, Section-Aware Semantic Indexing, SHA-1 Chunk IDs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10698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74320"/>
          <a:lstStyle/>
          <a:p>
            <a:pPr algn="ctr">
              <a:defRPr sz="1000" b="1">
                <a:solidFill>
                  <a:srgbClr val="BF8A2D"/>
                </a:solidFill>
              </a:defRPr>
            </a:pPr>
            <a:r>
              <a:t>FRONTEND APPLICATION</a:t>
            </a:r>
          </a:p>
          <a:p>
            <a:pPr>
              <a:spcBef>
                <a:spcPts val="200"/>
              </a:spcBef>
              <a:defRPr sz="1200" b="1">
                <a:solidFill>
                  <a:srgbClr val="0D432F"/>
                </a:solidFill>
              </a:defRPr>
            </a:pPr>
            <a:r>
              <a:t>React 19, Vite, Lucide Icons, Custom FairKey-Style Editorial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698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74320"/>
          <a:lstStyle/>
          <a:p>
            <a:pPr algn="ctr">
              <a:defRPr sz="1000" b="1">
                <a:solidFill>
                  <a:srgbClr val="BF8A2D"/>
                </a:solidFill>
              </a:defRPr>
            </a:pPr>
            <a:r>
              <a:t>TESTING &amp; VERIFICATION</a:t>
            </a:r>
          </a:p>
          <a:p>
            <a:pPr>
              <a:spcBef>
                <a:spcPts val="200"/>
              </a:spcBef>
              <a:defRPr sz="1200" b="1">
                <a:solidFill>
                  <a:srgbClr val="0D432F"/>
                </a:solidFill>
              </a:defRPr>
            </a:pPr>
            <a:r>
              <a:t>Pytest automated test suites, Golden question RAG evaluation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0698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74320"/>
          <a:lstStyle/>
          <a:p>
            <a:pPr algn="ctr">
              <a:defRPr sz="1000" b="1">
                <a:solidFill>
                  <a:srgbClr val="BF8A2D"/>
                </a:solidFill>
              </a:defRPr>
            </a:pPr>
            <a:r>
              <a:t>CLOUD INFRASTRUCTURE</a:t>
            </a:r>
          </a:p>
          <a:p>
            <a:pPr>
              <a:spcBef>
                <a:spcPts val="200"/>
              </a:spcBef>
              <a:defRPr sz="1200" b="1">
                <a:solidFill>
                  <a:srgbClr val="0D432F"/>
                </a:solidFill>
              </a:defRPr>
            </a:pPr>
            <a:r>
              <a:t>Vercel Serverless (Unified Root Deployment), Custom Domain: shagara.shop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F8A2D"/>
                </a:solidFill>
              </a:defRPr>
            </a:pPr>
            <a:r>
              <a:t>SHAGARA · CAIRO ROOFTOP BOTANICAL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432F"/>
                </a:solidFill>
                <a:latin typeface="Georgia"/>
              </a:defRPr>
            </a:pPr>
            <a:r>
              <a:t>Production Summary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100" b="1">
                <a:solidFill>
                  <a:srgbClr val="BF8A2D"/>
                </a:solidFill>
              </a:defRPr>
            </a:pPr>
            <a:r>
              <a:t>DELIVERABLES COMPLETED</a:t>
            </a:r>
          </a:p>
          <a:p>
            <a:pPr>
              <a:spcBef>
                <a:spcPts val="600"/>
              </a:spcBef>
              <a:defRPr sz="2000" b="1">
                <a:solidFill>
                  <a:srgbClr val="0D432F"/>
                </a:solidFill>
                <a:latin typeface="Georgia"/>
              </a:defRPr>
            </a:pPr>
            <a:r>
              <a:t>Production RAG Platform</a:t>
            </a:r>
          </a:p>
          <a:p>
            <a:pPr>
              <a:spcBef>
                <a:spcPts val="800"/>
              </a:spcBef>
              <a:defRPr sz="1200">
                <a:solidFill>
                  <a:srgbClr val="132D24"/>
                </a:solidFill>
              </a:defRPr>
            </a:pPr>
            <a:r>
              <a:t>✓ Reproducible evaluation notebook (rag_pipeline.ipynb)</a:t>
            </a:r>
          </a:p>
          <a:p>
            <a:pPr>
              <a:spcBef>
                <a:spcPts val="800"/>
              </a:spcBef>
              <a:defRPr sz="1200">
                <a:solidFill>
                  <a:srgbClr val="132D24"/>
                </a:solidFill>
              </a:defRPr>
            </a:pPr>
            <a:r>
              <a:t>✓ Enterprise FastAPI service with /query and /health</a:t>
            </a:r>
          </a:p>
          <a:p>
            <a:pPr>
              <a:spcBef>
                <a:spcPts val="800"/>
              </a:spcBef>
              <a:defRPr sz="1200">
                <a:solidFill>
                  <a:srgbClr val="132D24"/>
                </a:solidFill>
              </a:defRPr>
            </a:pPr>
            <a:r>
              <a:t>✓ Streamlit UI + React/Vite product experience</a:t>
            </a:r>
          </a:p>
          <a:p>
            <a:pPr>
              <a:spcBef>
                <a:spcPts val="800"/>
              </a:spcBef>
              <a:defRPr sz="1200">
                <a:solidFill>
                  <a:srgbClr val="132D24"/>
                </a:solidFill>
              </a:defRPr>
            </a:pPr>
            <a:r>
              <a:t>✓ Fully verified Gemini 2.5 Flash generative reasoning</a:t>
            </a:r>
          </a:p>
          <a:p>
            <a:pPr>
              <a:spcBef>
                <a:spcPts val="800"/>
              </a:spcBef>
              <a:defRPr sz="1200">
                <a:solidFill>
                  <a:srgbClr val="132D24"/>
                </a:solidFill>
              </a:defRPr>
            </a:pPr>
            <a:r>
              <a:t>✓ Deployed live at custom domain: https://shagara.shop</a:t>
            </a:r>
          </a:p>
          <a:p>
            <a:pPr>
              <a:spcBef>
                <a:spcPts val="800"/>
              </a:spcBef>
              <a:defRPr sz="1200">
                <a:solidFill>
                  <a:srgbClr val="132D24"/>
                </a:solidFill>
              </a:defRPr>
            </a:pPr>
            <a:r>
              <a:t>✓ 100% test coverage with 0 hallucination tolerance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100" b="1">
                <a:solidFill>
                  <a:srgbClr val="BF8A2D"/>
                </a:solidFill>
              </a:defRPr>
            </a:pPr>
            <a:r>
              <a:t>EXTENDED TRACK &amp; FUTURE HORIZONS</a:t>
            </a:r>
          </a:p>
          <a:p>
            <a:pPr>
              <a:spcBef>
                <a:spcPts val="600"/>
              </a:spcBef>
              <a:defRPr sz="2000" b="1">
                <a:solidFill>
                  <a:srgbClr val="0D432F"/>
                </a:solidFill>
                <a:latin typeface="Georgia"/>
              </a:defRPr>
            </a:pPr>
            <a:r>
              <a:t>Next-Generation Enhancements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200">
                <a:solidFill>
                  <a:srgbClr val="132D24"/>
                </a:solidFill>
              </a:defRPr>
            </a:pPr>
            <a:r>
              <a:t>🌿 Computer Vision / YOLO Leaf Disease Diagnostics: Ingest smartphone photos of infected crops into RAG prompt context.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200">
                <a:solidFill>
                  <a:srgbClr val="132D24"/>
                </a:solidFill>
              </a:defRPr>
            </a:pPr>
            <a:r>
              <a:t>💧 Smart IoT Soil Moisture &amp; Salinity Telemetry: Dynamic drip adjustment triggered by real-time rooftop hardware readings.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200">
                <a:solidFill>
                  <a:srgbClr val="132D24"/>
                </a:solidFill>
              </a:defRPr>
            </a:pPr>
            <a:r>
              <a:t>🏙️ Cairo Rooftop Network: Multi-tenant federated knowledge sharing across urban agriculture communities across Egypt.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200">
                <a:solidFill>
                  <a:srgbClr val="132D24"/>
                </a:solidFill>
              </a:defRPr>
            </a:pPr>
            <a:r>
              <a:t>📊 Automatic PDF Field Log Parsing: Native OCR pipeline for handwritten agronomist notebooks.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